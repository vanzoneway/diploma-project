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9" r:id="rId2"/>
    <p:sldId id="258" r:id="rId3"/>
    <p:sldId id="278" r:id="rId4"/>
    <p:sldId id="268" r:id="rId5"/>
    <p:sldId id="286" r:id="rId6"/>
    <p:sldId id="282" r:id="rId7"/>
    <p:sldId id="267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Климович" initials="АК" lastIdx="4" clrIdx="0">
    <p:extLst>
      <p:ext uri="{19B8F6BF-5375-455C-9EA6-DF929625EA0E}">
        <p15:presenceInfo xmlns:p15="http://schemas.microsoft.com/office/powerpoint/2012/main" userId="559831df4824d2b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-240" y="-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951599"/>
            <a:ext cx="182880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4000" spc="300" dirty="0">
                <a:solidFill>
                  <a:srgbClr val="000000"/>
                </a:solidFill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ИНФРАСТРУКТУРА МИКРОСЕРВИСНОГО ПРИЛОЖЕНИЯ</a:t>
            </a:r>
            <a:br>
              <a:rPr lang="ru-RU" sz="4000" spc="300" dirty="0">
                <a:solidFill>
                  <a:srgbClr val="000000"/>
                </a:solidFill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</a:br>
            <a:r>
              <a:rPr lang="ru-RU" sz="4000" spc="300" dirty="0">
                <a:solidFill>
                  <a:srgbClr val="000000"/>
                </a:solidFill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ДЛЯ АГРЕГАТОРА ТАКСИ</a:t>
            </a:r>
            <a:endParaRPr lang="en-US" sz="4000" spc="300" dirty="0">
              <a:solidFill>
                <a:srgbClr val="000000"/>
              </a:solidFill>
              <a:latin typeface="Arial" panose="020B0604020202020204" pitchFamily="34" charset="0"/>
              <a:ea typeface="League Spartan"/>
              <a:cs typeface="Arial" panose="020B0604020202020204" pitchFamily="34" charset="0"/>
              <a:sym typeface="League Spart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7923" y="7070956"/>
            <a:ext cx="3964144" cy="150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2000" spc="225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Выполнил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:</a:t>
            </a:r>
          </a:p>
          <a:p>
            <a:pPr algn="l">
              <a:lnSpc>
                <a:spcPts val="3890"/>
              </a:lnSpc>
            </a:pPr>
            <a:r>
              <a:rPr lang="en-US" sz="2000" spc="225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студент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en-US" sz="2000" spc="225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гр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2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5050</a:t>
            </a: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2</a:t>
            </a:r>
            <a:endParaRPr lang="en-US" sz="2000" spc="225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algn="l">
              <a:lnSpc>
                <a:spcPts val="3890"/>
              </a:lnSpc>
              <a:spcBef>
                <a:spcPct val="0"/>
              </a:spcBef>
            </a:pP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Зинович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В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39400" y="7070956"/>
            <a:ext cx="6334666" cy="1433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890"/>
              </a:lnSpc>
            </a:pPr>
            <a:r>
              <a:rPr lang="en-US" sz="2000" spc="225" dirty="0" err="1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Руководитель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:</a:t>
            </a:r>
          </a:p>
          <a:p>
            <a:pPr algn="r">
              <a:lnSpc>
                <a:spcPts val="3890"/>
              </a:lnSpc>
              <a:spcBef>
                <a:spcPct val="0"/>
              </a:spcBef>
            </a:pP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магистр, ассистент кафедры ЭВМ </a:t>
            </a:r>
          </a:p>
          <a:p>
            <a:pPr algn="r">
              <a:lnSpc>
                <a:spcPts val="3890"/>
              </a:lnSpc>
              <a:spcBef>
                <a:spcPct val="0"/>
              </a:spcBef>
            </a:pP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Скиба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  <a:r>
              <a:rPr lang="ru-RU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Г</a:t>
            </a:r>
            <a:r>
              <a:rPr lang="en-US" sz="2000" spc="225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916DA339-7FD6-436E-9168-C71E2CB14464}"/>
              </a:ext>
            </a:extLst>
          </p:cNvPr>
          <p:cNvSpPr txBox="1"/>
          <p:nvPr/>
        </p:nvSpPr>
        <p:spPr>
          <a:xfrm>
            <a:off x="0" y="1270048"/>
            <a:ext cx="18288000" cy="933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90"/>
              </a:lnSpc>
            </a:pPr>
            <a:r>
              <a:rPr lang="ru-RU" sz="2000" spc="6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БЕЛОРУССКИЙ ГОСУДАРСТВЕННЫЙ УНИВЕРСИТЕТ</a:t>
            </a:r>
          </a:p>
          <a:p>
            <a:pPr algn="ctr">
              <a:lnSpc>
                <a:spcPts val="3890"/>
              </a:lnSpc>
            </a:pPr>
            <a:r>
              <a:rPr lang="ru-RU" sz="2000" spc="600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ИНФОРМАТИКИ И РАДИОЭЛЕКТРОНИКИ</a:t>
            </a:r>
            <a:endParaRPr lang="en-US" sz="2000" spc="600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0181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438400" y="980132"/>
            <a:ext cx="78486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27"/>
              </a:lnSpc>
              <a:spcBef>
                <a:spcPct val="0"/>
              </a:spcBef>
            </a:pPr>
            <a:r>
              <a:rPr lang="ru-RU" sz="2000" spc="674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ИНФРАСТРУКТУРА МИКРОСЕРВИСНОГО ПРИЛОЖЕНИЯ ДЛЯ АГРЕГАТОРА ТАКСИ</a:t>
            </a:r>
            <a:endParaRPr lang="en-US" sz="2000" spc="674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5FACB-5C0B-43B8-9B4B-8A47EDACE6D1}"/>
              </a:ext>
            </a:extLst>
          </p:cNvPr>
          <p:cNvSpPr txBox="1"/>
          <p:nvPr/>
        </p:nvSpPr>
        <p:spPr>
          <a:xfrm>
            <a:off x="2285593" y="2895104"/>
            <a:ext cx="4260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ЦЕЛЬ И ЗАДАЧИ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A2F2B6-2CE2-4397-9DEF-6BF5E03A1B2D}"/>
              </a:ext>
            </a:extLst>
          </p:cNvPr>
          <p:cNvSpPr txBox="1"/>
          <p:nvPr/>
        </p:nvSpPr>
        <p:spPr>
          <a:xfrm>
            <a:off x="3426337" y="4108596"/>
            <a:ext cx="11051663" cy="142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и развертывание инфраструктуры для микросервисного приложения агрегатора такси с базовой бизнес-логикой, обеспечивающей масштабируемость, отказоустойчивость и эффективное взаимодействие микросервисов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3EB6E-A4D5-49E9-A207-22A181AB6046}"/>
              </a:ext>
            </a:extLst>
          </p:cNvPr>
          <p:cNvSpPr txBox="1"/>
          <p:nvPr/>
        </p:nvSpPr>
        <p:spPr>
          <a:xfrm>
            <a:off x="2438400" y="6113429"/>
            <a:ext cx="1025472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анализ современных практик и паттернов построения микросервисных систем;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и настройка центральных инфраструктурных компонентов;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организация системы единой авторизации и аутентификации;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выбор и настройка хранилищ данных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асинхронного взаимодействия между микросервисами;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построение полноценной системы логирования и трассировки;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и настройка базовых микросервисов</a:t>
            </a:r>
            <a:r>
              <a:rPr lang="en-US" sz="2000" dirty="0"/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22194B-942D-412B-821A-11996E7C241F}"/>
              </a:ext>
            </a:extLst>
          </p:cNvPr>
          <p:cNvSpPr txBox="1"/>
          <p:nvPr/>
        </p:nvSpPr>
        <p:spPr>
          <a:xfrm>
            <a:off x="2438400" y="4187816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ЦЕЛЬ: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AB7CE-5127-4D4B-9186-DAFA3A0A481A}"/>
              </a:ext>
            </a:extLst>
          </p:cNvPr>
          <p:cNvSpPr txBox="1"/>
          <p:nvPr/>
        </p:nvSpPr>
        <p:spPr>
          <a:xfrm>
            <a:off x="2438400" y="5632638"/>
            <a:ext cx="1271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3128" y="5421462"/>
            <a:ext cx="4140200" cy="41402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13" y="0"/>
            <a:ext cx="1019796" cy="10287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0439400" y="799649"/>
            <a:ext cx="78486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7"/>
              </a:lnSpc>
              <a:spcBef>
                <a:spcPct val="0"/>
              </a:spcBef>
            </a:pPr>
            <a:r>
              <a:rPr lang="ru-RU" sz="2000" spc="674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ИНФРАСТРУКТУРА МИКРОСЕРВИСНОГО ПРИЛОЖЕНИЯ ДЛЯ АГРЕГАТОРА ТАКСИ</a:t>
            </a:r>
            <a:endParaRPr lang="en-US" sz="2000" spc="674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5FACB-5C0B-43B8-9B4B-8A47EDACE6D1}"/>
              </a:ext>
            </a:extLst>
          </p:cNvPr>
          <p:cNvSpPr txBox="1"/>
          <p:nvPr/>
        </p:nvSpPr>
        <p:spPr>
          <a:xfrm>
            <a:off x="457200" y="854214"/>
            <a:ext cx="8754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ИНФРАСТРУКТУРЫ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34102" y="633727"/>
            <a:ext cx="1019796" cy="1828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171700"/>
            <a:ext cx="14690793" cy="662263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740636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09600" y="9173914"/>
            <a:ext cx="90678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7"/>
              </a:lnSpc>
              <a:spcBef>
                <a:spcPct val="0"/>
              </a:spcBef>
            </a:pPr>
            <a:r>
              <a:rPr lang="ru-RU" sz="2400" spc="674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ИНФРАСТРУКТУРА МИКРОСЕРВИСНОГО ПРИЛОЖЕНИЯ ДЛЯ АГРЕГАТОРА ТАКСИ</a:t>
            </a:r>
            <a:endParaRPr lang="en-US" sz="2400" spc="674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172D9-1321-4ADD-AEFC-5F9FA31857E1}"/>
              </a:ext>
            </a:extLst>
          </p:cNvPr>
          <p:cNvSpPr txBox="1"/>
          <p:nvPr/>
        </p:nvSpPr>
        <p:spPr>
          <a:xfrm>
            <a:off x="8463762" y="876300"/>
            <a:ext cx="8199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ИСПОЛЬЗУЕМЫЕ ТЕХНОЛОГИИ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6942" y="-19362"/>
            <a:ext cx="1019796" cy="1030636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82856"/>
            <a:ext cx="2220926" cy="357024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42" y="2349270"/>
            <a:ext cx="2145498" cy="318472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402" y="2247974"/>
            <a:ext cx="2707015" cy="341938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442" y="2451044"/>
            <a:ext cx="2036547" cy="330205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2041" y="2433864"/>
            <a:ext cx="2859240" cy="322662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0131" y="5887614"/>
            <a:ext cx="2438741" cy="291266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1796" y="5953250"/>
            <a:ext cx="2152950" cy="2857899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1286" y="5836228"/>
            <a:ext cx="2962688" cy="2934109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81964" y="5887612"/>
            <a:ext cx="2762636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0168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CEF63E-588D-4D69-AC06-AF1F4A58C0C4}"/>
              </a:ext>
            </a:extLst>
          </p:cNvPr>
          <p:cNvSpPr txBox="1"/>
          <p:nvPr/>
        </p:nvSpPr>
        <p:spPr>
          <a:xfrm>
            <a:off x="773140" y="1790700"/>
            <a:ext cx="11753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РАБОТЫ ИНФРАСТРУКТУРЫ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F7502493-2D74-4BA1-A83B-35DEAA6F1108}"/>
              </a:ext>
            </a:extLst>
          </p:cNvPr>
          <p:cNvSpPr txBox="1"/>
          <p:nvPr/>
        </p:nvSpPr>
        <p:spPr>
          <a:xfrm>
            <a:off x="773140" y="8513858"/>
            <a:ext cx="7989859" cy="799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7"/>
              </a:lnSpc>
              <a:spcBef>
                <a:spcPct val="0"/>
              </a:spcBef>
            </a:pPr>
            <a:r>
              <a:rPr lang="ru-RU" sz="2000" spc="674" dirty="0">
                <a:solidFill>
                  <a:schemeClr val="bg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ИНФРАСТРУКТУРА МИКРОСЕРВИСНОГО ПРИЛОЖЕНИЯ ДЛЯ АГРЕГАТОРА ТАКСИ</a:t>
            </a:r>
            <a:endParaRPr lang="en-US" sz="2000" spc="674" dirty="0">
              <a:solidFill>
                <a:schemeClr val="bg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34102" y="-8634102"/>
            <a:ext cx="1019796" cy="18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8252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14400" y="8953500"/>
            <a:ext cx="85344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7"/>
              </a:lnSpc>
              <a:spcBef>
                <a:spcPct val="0"/>
              </a:spcBef>
            </a:pPr>
            <a:r>
              <a:rPr lang="ru-RU" sz="2000" spc="674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ИНФРАСТРУКТУРА МИКРОСЕРВИСНОГО ПРИЛОЖЕНИЯ ДЛЯ АГРЕГАТОРА ТАКСИ</a:t>
            </a:r>
            <a:endParaRPr lang="en-US" sz="2000" spc="674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172D9-1321-4ADD-AEFC-5F9FA31857E1}"/>
              </a:ext>
            </a:extLst>
          </p:cNvPr>
          <p:cNvSpPr txBox="1"/>
          <p:nvPr/>
        </p:nvSpPr>
        <p:spPr>
          <a:xfrm>
            <a:off x="1319880" y="1957835"/>
            <a:ext cx="34532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48053-FFBA-43B7-AE1E-2E92850B1AA1}"/>
              </a:ext>
            </a:extLst>
          </p:cNvPr>
          <p:cNvSpPr txBox="1"/>
          <p:nvPr/>
        </p:nvSpPr>
        <p:spPr>
          <a:xfrm>
            <a:off x="6475406" y="6254903"/>
            <a:ext cx="77739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использование оркестраторов: Kubernetes, Docker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Swarm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использование Yandex Cloud или AWS;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внедрение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Debezium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Kafka Connect;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конфигурация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RabbitMQ.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FA459A-BDBE-424B-B675-EFD2403DBBC5}"/>
              </a:ext>
            </a:extLst>
          </p:cNvPr>
          <p:cNvSpPr txBox="1"/>
          <p:nvPr/>
        </p:nvSpPr>
        <p:spPr>
          <a:xfrm>
            <a:off x="6476202" y="2798949"/>
            <a:ext cx="731599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UI для мониторинга логирования и трассировки;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UI для мониторинга компонентов: Kafka, Keycloak;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SSO для аутентификации и авторизации;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Базовые микросервисы;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Хранилища данных: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PostgreSQL, Redis.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08E055-744A-488D-A4A6-E3C4E204FECD}"/>
              </a:ext>
            </a:extLst>
          </p:cNvPr>
          <p:cNvSpPr txBox="1"/>
          <p:nvPr/>
        </p:nvSpPr>
        <p:spPr>
          <a:xfrm>
            <a:off x="6476203" y="5727268"/>
            <a:ext cx="396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/>
            <a:r>
              <a:rPr lang="ru-RU" sz="20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Дальнейшие улучшения:</a:t>
            </a:r>
            <a:endParaRPr lang="ru-RU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AC5636-56A1-4DC8-8862-754194C6ED22}"/>
              </a:ext>
            </a:extLst>
          </p:cNvPr>
          <p:cNvSpPr txBox="1"/>
          <p:nvPr/>
        </p:nvSpPr>
        <p:spPr>
          <a:xfrm>
            <a:off x="6477000" y="2304990"/>
            <a:ext cx="396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/>
            <a:r>
              <a:rPr lang="ru-RU" sz="2000" b="1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Реализовано:</a:t>
            </a:r>
            <a:endParaRPr lang="ru-RU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34102" y="-8634102"/>
            <a:ext cx="1019796" cy="18288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425326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5302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>
            <a:extLst>
              <a:ext uri="{FF2B5EF4-FFF2-40B4-BE49-F238E27FC236}">
                <a16:creationId xmlns:a16="http://schemas.microsoft.com/office/drawing/2014/main" id="{8D1477C3-8CBA-4BEA-B38D-683743074F57}"/>
              </a:ext>
            </a:extLst>
          </p:cNvPr>
          <p:cNvSpPr txBox="1"/>
          <p:nvPr/>
        </p:nvSpPr>
        <p:spPr>
          <a:xfrm>
            <a:off x="838200" y="8877300"/>
            <a:ext cx="77724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27"/>
              </a:lnSpc>
              <a:spcBef>
                <a:spcPct val="0"/>
              </a:spcBef>
            </a:pPr>
            <a:r>
              <a:rPr lang="ru-RU" sz="2000" spc="674" dirty="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ИНФРАСТРУКТУРА МИКРОСЕРВИСНОГО ПРИЛОЖЕНИЯ ДЛЯ АГРЕГАТОРА ТАКСИ</a:t>
            </a:r>
            <a:endParaRPr lang="en-US" sz="2000" spc="674" dirty="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34102" y="-8634102"/>
            <a:ext cx="1019796" cy="1828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732430" y="4664839"/>
            <a:ext cx="27227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СПАСИБО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7603678" y="5372100"/>
            <a:ext cx="298030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ЗА ВНИМАНИЕ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3017</TotalTime>
  <Words>221</Words>
  <Application>Microsoft Office PowerPoint</Application>
  <PresentationFormat>Произвольный</PresentationFormat>
  <Paragraphs>43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Animation Based On Neural Networks</dc:title>
  <dc:creator>Зинович Иван Вячеславович</dc:creator>
  <cp:lastModifiedBy>Ivan Zinovich</cp:lastModifiedBy>
  <cp:revision>75</cp:revision>
  <dcterms:created xsi:type="dcterms:W3CDTF">2006-08-16T00:00:00Z</dcterms:created>
  <dcterms:modified xsi:type="dcterms:W3CDTF">2026-04-22T10:07:53Z</dcterms:modified>
  <dc:identifier>DAGlKXBekrg</dc:identifier>
</cp:coreProperties>
</file>